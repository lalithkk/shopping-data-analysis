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oppins" panose="00000500000000000000" pitchFamily="2" charset="0"/>
      <p:regular r:id="rId14"/>
    </p:embeddedFont>
    <p:embeddedFont>
      <p:font typeface="Poppins Medium" panose="000006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6569683"/>
            <a:ext cx="18288000" cy="0"/>
          </a:xfrm>
          <a:prstGeom prst="line">
            <a:avLst/>
          </a:prstGeom>
          <a:ln w="9525" cap="rnd">
            <a:solidFill>
              <a:srgbClr val="C5DBB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140589" y="2311960"/>
            <a:ext cx="14006823" cy="335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5"/>
              </a:lnSpc>
            </a:pPr>
            <a:r>
              <a:rPr lang="en-US" sz="13016" b="1" spc="-546" dirty="0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Customer Data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4154" y="6474433"/>
            <a:ext cx="6967016" cy="428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</a:pPr>
            <a:endParaRPr/>
          </a:p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Batch Id: PTID-CDA-FEB-26-1285</a:t>
            </a:r>
          </a:p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Kaicharla Lalith Kumar</a:t>
            </a:r>
          </a:p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Bollam Sai Lavanya</a:t>
            </a:r>
          </a:p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Nagadurga Jahnavi</a:t>
            </a:r>
          </a:p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Mavuluri Rajendra Kumar</a:t>
            </a:r>
          </a:p>
          <a:p>
            <a:pPr algn="l">
              <a:lnSpc>
                <a:spcPts val="4230"/>
              </a:lnSpc>
            </a:pPr>
            <a:endParaRPr lang="en-US" sz="3021" spc="-126">
              <a:solidFill>
                <a:srgbClr val="EAF7E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30"/>
              </a:lnSpc>
              <a:spcBef>
                <a:spcPct val="0"/>
              </a:spcBef>
            </a:pPr>
            <a:endParaRPr lang="en-US" sz="3021" spc="-126">
              <a:solidFill>
                <a:srgbClr val="EAF7E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57120" y="5344883"/>
            <a:ext cx="2530479" cy="512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30"/>
              </a:lnSpc>
              <a:spcBef>
                <a:spcPct val="0"/>
              </a:spcBef>
            </a:pPr>
            <a:r>
              <a:rPr lang="en-US" sz="3021" spc="-126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(PRDA-05)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40168" y="2054511"/>
            <a:ext cx="6347365" cy="6177979"/>
          </a:xfrm>
          <a:custGeom>
            <a:avLst/>
            <a:gdLst/>
            <a:ahLst/>
            <a:cxnLst/>
            <a:rect l="l" t="t" r="r" b="b"/>
            <a:pathLst>
              <a:path w="6347365" h="6177979">
                <a:moveTo>
                  <a:pt x="0" y="0"/>
                </a:moveTo>
                <a:lnTo>
                  <a:pt x="6347365" y="0"/>
                </a:lnTo>
                <a:lnTo>
                  <a:pt x="6347365" y="6177978"/>
                </a:lnTo>
                <a:lnTo>
                  <a:pt x="0" y="617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7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78515"/>
            <a:ext cx="8115300" cy="193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7546" b="1" spc="-316" dirty="0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Business 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72241" y="4287668"/>
            <a:ext cx="6967016" cy="365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endParaRPr/>
          </a:p>
          <a:p>
            <a:pPr algn="l">
              <a:lnSpc>
                <a:spcPts val="3670"/>
              </a:lnSpc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Mostly organizations work with large datasets with raw data, which is not much helpful in decision making.</a:t>
            </a:r>
          </a:p>
          <a:p>
            <a:pPr algn="l">
              <a:lnSpc>
                <a:spcPts val="3670"/>
              </a:lnSpc>
            </a:pPr>
            <a:endParaRPr lang="en-US" sz="2621" spc="-110">
              <a:solidFill>
                <a:srgbClr val="EAF7E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For effective decision making, we prefer to do structured analysis for obtaining meaningful insights.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882821"/>
            <a:ext cx="8115300" cy="103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7546" b="1" spc="-316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450346"/>
            <a:ext cx="11488553" cy="365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Shopping distribution according to gender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Sales based on gender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Distribution of purchase categories relative to gender and age group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Shopping distribution according to age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Sales among age category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Payment method relative to gender and category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Distribution of payment method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 dirty="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Derived insights and Business suggestions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4110028"/>
            <a:ext cx="18288000" cy="0"/>
          </a:xfrm>
          <a:prstGeom prst="line">
            <a:avLst/>
          </a:prstGeom>
          <a:ln w="9525" cap="rnd">
            <a:solidFill>
              <a:srgbClr val="EAF7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-22150" y="8465762"/>
            <a:ext cx="18288000" cy="0"/>
          </a:xfrm>
          <a:prstGeom prst="line">
            <a:avLst/>
          </a:prstGeom>
          <a:ln w="9525" cap="rnd">
            <a:solidFill>
              <a:srgbClr val="EAF7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28700" y="5143500"/>
            <a:ext cx="16230600" cy="2079250"/>
            <a:chOff x="0" y="0"/>
            <a:chExt cx="21640800" cy="2772333"/>
          </a:xfrm>
        </p:grpSpPr>
        <p:grpSp>
          <p:nvGrpSpPr>
            <p:cNvPr id="5" name="Group 5"/>
            <p:cNvGrpSpPr/>
            <p:nvPr/>
          </p:nvGrpSpPr>
          <p:grpSpPr>
            <a:xfrm>
              <a:off x="723421" y="0"/>
              <a:ext cx="7212321" cy="1098478"/>
              <a:chOff x="0" y="0"/>
              <a:chExt cx="1424656" cy="21698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4656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1424656" h="216983">
                    <a:moveTo>
                      <a:pt x="108492" y="0"/>
                    </a:moveTo>
                    <a:lnTo>
                      <a:pt x="1316164" y="0"/>
                    </a:lnTo>
                    <a:cubicBezTo>
                      <a:pt x="1376083" y="0"/>
                      <a:pt x="1424656" y="48573"/>
                      <a:pt x="1424656" y="108492"/>
                    </a:cubicBezTo>
                    <a:lnTo>
                      <a:pt x="1424656" y="108492"/>
                    </a:lnTo>
                    <a:cubicBezTo>
                      <a:pt x="1424656" y="168410"/>
                      <a:pt x="1376083" y="216983"/>
                      <a:pt x="1316164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76200"/>
                <a:ext cx="1424656" cy="29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894188" y="221163"/>
              <a:ext cx="3652787" cy="58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  <a:r>
                <a:rPr lang="en-US" sz="2521" spc="-105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MySQL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0"/>
              <a:ext cx="3525879" cy="1098478"/>
              <a:chOff x="0" y="0"/>
              <a:chExt cx="696470" cy="21698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96470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696470" h="216983">
                    <a:moveTo>
                      <a:pt x="108492" y="0"/>
                    </a:moveTo>
                    <a:lnTo>
                      <a:pt x="587978" y="0"/>
                    </a:lnTo>
                    <a:cubicBezTo>
                      <a:pt x="647897" y="0"/>
                      <a:pt x="696470" y="48573"/>
                      <a:pt x="696470" y="108492"/>
                    </a:cubicBezTo>
                    <a:lnTo>
                      <a:pt x="696470" y="108492"/>
                    </a:lnTo>
                    <a:cubicBezTo>
                      <a:pt x="696470" y="168410"/>
                      <a:pt x="647897" y="216983"/>
                      <a:pt x="58797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solidFill>
                <a:srgbClr val="EAF7E3"/>
              </a:solidFill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1729"/>
                <a:ext cx="696470" cy="2152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r>
                  <a:rPr lang="en-US" sz="2521" b="1" spc="52" dirty="0">
                    <a:solidFill>
                      <a:srgbClr val="35461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DATABASE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4039710" y="0"/>
              <a:ext cx="7601090" cy="1098478"/>
              <a:chOff x="0" y="0"/>
              <a:chExt cx="1501450" cy="21698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01450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1501450" h="216983">
                    <a:moveTo>
                      <a:pt x="108492" y="0"/>
                    </a:moveTo>
                    <a:lnTo>
                      <a:pt x="1392958" y="0"/>
                    </a:lnTo>
                    <a:cubicBezTo>
                      <a:pt x="1452876" y="0"/>
                      <a:pt x="1501450" y="48573"/>
                      <a:pt x="1501450" y="108492"/>
                    </a:cubicBezTo>
                    <a:lnTo>
                      <a:pt x="1501450" y="108492"/>
                    </a:lnTo>
                    <a:cubicBezTo>
                      <a:pt x="1501450" y="168410"/>
                      <a:pt x="1452876" y="216983"/>
                      <a:pt x="139295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1501450" cy="29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588982" y="217285"/>
              <a:ext cx="4001229" cy="58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  <a:r>
                <a:rPr lang="en-US" sz="2521" spc="-105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SQL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2961150" y="0"/>
              <a:ext cx="4259532" cy="1098478"/>
              <a:chOff x="0" y="0"/>
              <a:chExt cx="841389" cy="2169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41389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841389" h="216983">
                    <a:moveTo>
                      <a:pt x="108492" y="0"/>
                    </a:moveTo>
                    <a:lnTo>
                      <a:pt x="732898" y="0"/>
                    </a:lnTo>
                    <a:cubicBezTo>
                      <a:pt x="792816" y="0"/>
                      <a:pt x="841389" y="48573"/>
                      <a:pt x="841389" y="108492"/>
                    </a:cubicBezTo>
                    <a:lnTo>
                      <a:pt x="841389" y="108492"/>
                    </a:lnTo>
                    <a:cubicBezTo>
                      <a:pt x="841389" y="168410"/>
                      <a:pt x="792816" y="216983"/>
                      <a:pt x="73289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solidFill>
                <a:srgbClr val="EAF7E3"/>
              </a:solidFill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1729"/>
                <a:ext cx="841389" cy="2152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r>
                  <a:rPr lang="en-US" sz="2521" b="1" spc="52" dirty="0">
                    <a:solidFill>
                      <a:srgbClr val="35461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QUERY LANGUAGE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23421" y="1669978"/>
              <a:ext cx="7601090" cy="1098478"/>
              <a:chOff x="0" y="0"/>
              <a:chExt cx="1501450" cy="21698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01450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1501450" h="216983">
                    <a:moveTo>
                      <a:pt x="108492" y="0"/>
                    </a:moveTo>
                    <a:lnTo>
                      <a:pt x="1392958" y="0"/>
                    </a:lnTo>
                    <a:cubicBezTo>
                      <a:pt x="1452876" y="0"/>
                      <a:pt x="1501450" y="48573"/>
                      <a:pt x="1501450" y="108492"/>
                    </a:cubicBezTo>
                    <a:lnTo>
                      <a:pt x="1501450" y="108492"/>
                    </a:lnTo>
                    <a:cubicBezTo>
                      <a:pt x="1501450" y="168410"/>
                      <a:pt x="1452876" y="216983"/>
                      <a:pt x="139295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76200"/>
                <a:ext cx="1501450" cy="29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94188" y="1891141"/>
              <a:ext cx="4001229" cy="58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  <a:r>
                <a:rPr lang="en-US" sz="2521" spc="-105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Power BI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1669978"/>
              <a:ext cx="3525879" cy="1098478"/>
              <a:chOff x="0" y="0"/>
              <a:chExt cx="696470" cy="21698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96470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696470" h="216983">
                    <a:moveTo>
                      <a:pt x="108492" y="0"/>
                    </a:moveTo>
                    <a:lnTo>
                      <a:pt x="587978" y="0"/>
                    </a:lnTo>
                    <a:cubicBezTo>
                      <a:pt x="647897" y="0"/>
                      <a:pt x="696470" y="48573"/>
                      <a:pt x="696470" y="108492"/>
                    </a:cubicBezTo>
                    <a:lnTo>
                      <a:pt x="696470" y="108492"/>
                    </a:lnTo>
                    <a:cubicBezTo>
                      <a:pt x="696470" y="168410"/>
                      <a:pt x="647897" y="216983"/>
                      <a:pt x="58797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solidFill>
                <a:srgbClr val="EAF7E3"/>
              </a:solidFill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696470" cy="216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r>
                  <a:rPr lang="en-US" sz="2521" b="1" spc="52" dirty="0">
                    <a:solidFill>
                      <a:srgbClr val="35461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VISUALIZATION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484756" y="1669978"/>
              <a:ext cx="10156044" cy="1098478"/>
              <a:chOff x="0" y="0"/>
              <a:chExt cx="2006132" cy="21698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006132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2006132" h="216983">
                    <a:moveTo>
                      <a:pt x="101640" y="0"/>
                    </a:moveTo>
                    <a:lnTo>
                      <a:pt x="1904493" y="0"/>
                    </a:lnTo>
                    <a:cubicBezTo>
                      <a:pt x="1960627" y="0"/>
                      <a:pt x="2006132" y="45506"/>
                      <a:pt x="2006132" y="101640"/>
                    </a:cubicBezTo>
                    <a:lnTo>
                      <a:pt x="2006132" y="115344"/>
                    </a:lnTo>
                    <a:cubicBezTo>
                      <a:pt x="2006132" y="171478"/>
                      <a:pt x="1960627" y="216983"/>
                      <a:pt x="1904493" y="216983"/>
                    </a:cubicBezTo>
                    <a:lnTo>
                      <a:pt x="101640" y="216983"/>
                    </a:lnTo>
                    <a:cubicBezTo>
                      <a:pt x="45506" y="216983"/>
                      <a:pt x="0" y="171478"/>
                      <a:pt x="0" y="115344"/>
                    </a:cubicBezTo>
                    <a:lnTo>
                      <a:pt x="0" y="101640"/>
                    </a:lnTo>
                    <a:cubicBezTo>
                      <a:pt x="0" y="45506"/>
                      <a:pt x="45506" y="0"/>
                      <a:pt x="101640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76200"/>
                <a:ext cx="2006132" cy="29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5090916" y="1887263"/>
              <a:ext cx="6264188" cy="58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  <a:r>
                <a:rPr lang="en-US" sz="2521" spc="-105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MS Word &amp; Power Point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900090" y="1669977"/>
              <a:ext cx="4404555" cy="1102356"/>
              <a:chOff x="0" y="-766"/>
              <a:chExt cx="870036" cy="21774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70036" cy="216983"/>
              </a:xfrm>
              <a:custGeom>
                <a:avLst/>
                <a:gdLst/>
                <a:ahLst/>
                <a:cxnLst/>
                <a:rect l="l" t="t" r="r" b="b"/>
                <a:pathLst>
                  <a:path w="870036" h="216983">
                    <a:moveTo>
                      <a:pt x="108492" y="0"/>
                    </a:moveTo>
                    <a:lnTo>
                      <a:pt x="761544" y="0"/>
                    </a:lnTo>
                    <a:cubicBezTo>
                      <a:pt x="821462" y="0"/>
                      <a:pt x="870036" y="48573"/>
                      <a:pt x="870036" y="108492"/>
                    </a:cubicBezTo>
                    <a:lnTo>
                      <a:pt x="870036" y="108492"/>
                    </a:lnTo>
                    <a:cubicBezTo>
                      <a:pt x="870036" y="168410"/>
                      <a:pt x="821462" y="216983"/>
                      <a:pt x="761544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solidFill>
                <a:srgbClr val="EAF7E3"/>
              </a:solidFill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766"/>
                <a:ext cx="870036" cy="2177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30"/>
                  </a:lnSpc>
                </a:pPr>
                <a:r>
                  <a:rPr lang="en-US" sz="2521" b="1" spc="52" dirty="0">
                    <a:solidFill>
                      <a:srgbClr val="35461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DOCUMENTATION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982873" y="1684998"/>
            <a:ext cx="14322254" cy="118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2"/>
              </a:lnSpc>
            </a:pPr>
            <a:r>
              <a:rPr lang="en-US" sz="8550" b="1" spc="-359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Tools &amp; Technologies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06712"/>
            <a:ext cx="12160554" cy="7133366"/>
            <a:chOff x="0" y="0"/>
            <a:chExt cx="16214072" cy="95111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300"/>
              <a:ext cx="14915433" cy="161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8122"/>
                </a:lnSpc>
              </a:pPr>
              <a:r>
                <a:rPr lang="en-US" sz="8550" b="1" spc="-359" dirty="0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Dataset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425317"/>
              <a:ext cx="16214072" cy="3905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This dataset contains shopping information from 10 different shopping</a:t>
              </a:r>
            </a:p>
            <a:p>
              <a:pPr algn="just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malls between 2021 and 2023. We have gathered data from various age</a:t>
              </a:r>
            </a:p>
            <a:p>
              <a:pPr algn="just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groups and genders to provide a comprehensive view of shopping habits</a:t>
              </a:r>
            </a:p>
            <a:p>
              <a:pPr algn="just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in Istanbul. The dataset includes essential information such as invoice</a:t>
              </a:r>
            </a:p>
            <a:p>
              <a:pPr algn="just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numbers, customer IDs, age, gender, payment methods, product</a:t>
              </a:r>
            </a:p>
            <a:p>
              <a:pPr algn="just">
                <a:lnSpc>
                  <a:spcPts val="3670"/>
                </a:lnSpc>
                <a:spcBef>
                  <a:spcPct val="0"/>
                </a:spcBef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categories, quantity, price, order dates, and shopping mall locations.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158942"/>
              <a:ext cx="15503410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CDEFD1B-3F0F-8628-8281-9B32BA39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5290134"/>
            <a:ext cx="4501245" cy="4501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2279636" y="0"/>
            <a:ext cx="0" cy="10321060"/>
          </a:xfrm>
          <a:prstGeom prst="line">
            <a:avLst/>
          </a:prstGeom>
          <a:ln w="9525" cap="rnd">
            <a:solidFill>
              <a:srgbClr val="EAF7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3356138" y="1040456"/>
            <a:ext cx="3903162" cy="812102"/>
            <a:chOff x="0" y="0"/>
            <a:chExt cx="1027993" cy="2169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solidFill>
              <a:srgbClr val="EAF7E3"/>
            </a:soli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27993" cy="21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35461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COLLECT DATA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56138" y="2848191"/>
            <a:ext cx="3903162" cy="823858"/>
            <a:chOff x="0" y="0"/>
            <a:chExt cx="1027993" cy="2169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solidFill>
              <a:srgbClr val="EAF7E3"/>
            </a:soli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506"/>
              <a:ext cx="10279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35461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CLEAN DATA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56138" y="4667682"/>
            <a:ext cx="3903162" cy="866451"/>
            <a:chOff x="0" y="-11218"/>
            <a:chExt cx="1027993" cy="2282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solidFill>
              <a:srgbClr val="EAF7E3"/>
            </a:soli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1218"/>
              <a:ext cx="1027993" cy="228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35461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ANALYZE DATA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56138" y="6529765"/>
            <a:ext cx="3903162" cy="866451"/>
            <a:chOff x="0" y="0"/>
            <a:chExt cx="1027993" cy="21698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solidFill>
              <a:srgbClr val="EAF7E3"/>
            </a:soli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27993" cy="216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35461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CREATE DASHBOARD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56138" y="8434442"/>
            <a:ext cx="3903162" cy="1170566"/>
            <a:chOff x="0" y="0"/>
            <a:chExt cx="1027993" cy="3082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7993" cy="308297"/>
            </a:xfrm>
            <a:custGeom>
              <a:avLst/>
              <a:gdLst/>
              <a:ahLst/>
              <a:cxnLst/>
              <a:rect l="l" t="t" r="r" b="b"/>
              <a:pathLst>
                <a:path w="1027993" h="308297">
                  <a:moveTo>
                    <a:pt x="154149" y="0"/>
                  </a:moveTo>
                  <a:lnTo>
                    <a:pt x="873845" y="0"/>
                  </a:lnTo>
                  <a:cubicBezTo>
                    <a:pt x="914727" y="0"/>
                    <a:pt x="953936" y="16241"/>
                    <a:pt x="982844" y="45149"/>
                  </a:cubicBezTo>
                  <a:cubicBezTo>
                    <a:pt x="1011753" y="74058"/>
                    <a:pt x="1027993" y="113266"/>
                    <a:pt x="1027993" y="154149"/>
                  </a:cubicBezTo>
                  <a:lnTo>
                    <a:pt x="1027993" y="154149"/>
                  </a:lnTo>
                  <a:cubicBezTo>
                    <a:pt x="1027993" y="239282"/>
                    <a:pt x="958979" y="308297"/>
                    <a:pt x="873845" y="308297"/>
                  </a:cubicBezTo>
                  <a:lnTo>
                    <a:pt x="154149" y="308297"/>
                  </a:lnTo>
                  <a:cubicBezTo>
                    <a:pt x="69015" y="308297"/>
                    <a:pt x="0" y="239282"/>
                    <a:pt x="0" y="154149"/>
                  </a:cubicBezTo>
                  <a:lnTo>
                    <a:pt x="0" y="154149"/>
                  </a:lnTo>
                  <a:cubicBezTo>
                    <a:pt x="0" y="69015"/>
                    <a:pt x="69015" y="0"/>
                    <a:pt x="154149" y="0"/>
                  </a:cubicBezTo>
                  <a:close/>
                </a:path>
              </a:pathLst>
            </a:custGeom>
            <a:solidFill>
              <a:srgbClr val="EAF7E3"/>
            </a:soli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2541"/>
              <a:ext cx="1027993" cy="295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35461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INSIGHTS &amp; BUSINESS RECOMMENDATIONS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73585" y="1040458"/>
            <a:ext cx="812101" cy="81210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713E"/>
            </a:soli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0"/>
                </a:lnSpc>
              </a:pPr>
              <a:r>
                <a:rPr lang="en-US" sz="2221" b="1" spc="46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73585" y="2848191"/>
            <a:ext cx="812101" cy="81210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713E"/>
            </a:soli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73585" y="4737450"/>
            <a:ext cx="812101" cy="81210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713E"/>
            </a:soli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73585" y="6584116"/>
            <a:ext cx="812101" cy="81210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713E"/>
            </a:soli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73585" y="8472542"/>
            <a:ext cx="812101" cy="81210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713E"/>
            </a:soli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8700" y="1864215"/>
            <a:ext cx="9306328" cy="8979425"/>
            <a:chOff x="0" y="0"/>
            <a:chExt cx="12408437" cy="11972566"/>
          </a:xfrm>
        </p:grpSpPr>
        <p:sp>
          <p:nvSpPr>
            <p:cNvPr id="34" name="TextBox 34"/>
            <p:cNvSpPr txBox="1"/>
            <p:nvPr/>
          </p:nvSpPr>
          <p:spPr>
            <a:xfrm>
              <a:off x="0" y="114300"/>
              <a:ext cx="11221669" cy="1411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Methodology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085638"/>
              <a:ext cx="11221669" cy="5886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5 Key Steps to Analyze Data</a:t>
              </a:r>
            </a:p>
            <a:p>
              <a:pPr algn="l">
                <a:lnSpc>
                  <a:spcPts val="3950"/>
                </a:lnSpc>
              </a:pPr>
              <a:endParaRPr lang="en-US" sz="2821" spc="-118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609149" lvl="1" indent="-304574" algn="l">
                <a:lnSpc>
                  <a:spcPts val="3950"/>
                </a:lnSpc>
                <a:buFont typeface="Arial"/>
                <a:buChar char="•"/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Database connection using MySQL</a:t>
              </a:r>
            </a:p>
            <a:p>
              <a:pPr marL="609149" lvl="1" indent="-304574" algn="l">
                <a:lnSpc>
                  <a:spcPts val="3950"/>
                </a:lnSpc>
                <a:buFont typeface="Arial"/>
                <a:buChar char="•"/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Data cleaning and transforming using Power BI</a:t>
              </a:r>
            </a:p>
            <a:p>
              <a:pPr marL="609149" lvl="1" indent="-304574" algn="l">
                <a:lnSpc>
                  <a:spcPts val="3950"/>
                </a:lnSpc>
                <a:buFont typeface="Arial"/>
                <a:buChar char="•"/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Analyzing the data using MySQL</a:t>
              </a:r>
            </a:p>
            <a:p>
              <a:pPr marL="609149" lvl="1" indent="-304574" algn="l">
                <a:lnSpc>
                  <a:spcPts val="3950"/>
                </a:lnSpc>
                <a:buFont typeface="Arial"/>
                <a:buChar char="•"/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Dashboard creation using Power BI</a:t>
              </a:r>
            </a:p>
            <a:p>
              <a:pPr marL="609149" lvl="1" indent="-304574" algn="l">
                <a:lnSpc>
                  <a:spcPts val="3950"/>
                </a:lnSpc>
                <a:buFont typeface="Arial"/>
                <a:buChar char="•"/>
              </a:pPr>
              <a:r>
                <a:rPr lang="en-US" sz="2821" spc="-118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Deriving meaningful insights and business recommendations</a:t>
              </a:r>
            </a:p>
            <a:p>
              <a:pPr algn="l">
                <a:lnSpc>
                  <a:spcPts val="3670"/>
                </a:lnSpc>
                <a:spcBef>
                  <a:spcPct val="0"/>
                </a:spcBef>
              </a:pPr>
              <a:endParaRPr lang="en-US" sz="2821" spc="-118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1620353"/>
              <a:ext cx="12408437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3624397"/>
            <a:ext cx="18288000" cy="0"/>
          </a:xfrm>
          <a:prstGeom prst="line">
            <a:avLst/>
          </a:prstGeom>
          <a:ln w="9525" cap="rnd">
            <a:solidFill>
              <a:srgbClr val="EAF7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85317" y="1338154"/>
            <a:ext cx="18202683" cy="1344738"/>
          </a:xfrm>
          <a:custGeom>
            <a:avLst/>
            <a:gdLst/>
            <a:ahLst/>
            <a:cxnLst/>
            <a:rect l="l" t="t" r="r" b="b"/>
            <a:pathLst>
              <a:path w="18202683" h="1344738">
                <a:moveTo>
                  <a:pt x="0" y="0"/>
                </a:moveTo>
                <a:lnTo>
                  <a:pt x="18202683" y="0"/>
                </a:lnTo>
                <a:lnTo>
                  <a:pt x="18202683" y="1344738"/>
                </a:lnTo>
                <a:lnTo>
                  <a:pt x="0" y="1344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9675" y="3918593"/>
            <a:ext cx="15366439" cy="95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sz="6850" b="1" spc="-287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PERFORMANCE INDICATORS (KPIs)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9675" y="5057775"/>
            <a:ext cx="8306731" cy="329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2821" spc="-118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These KPIs provide a quick overview of business performance</a:t>
            </a:r>
          </a:p>
          <a:p>
            <a:pPr marL="565970" lvl="1" indent="-282985" algn="l">
              <a:lnSpc>
                <a:spcPts val="3670"/>
              </a:lnSpc>
              <a:buAutoNum type="arabicPeriod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Total Customers</a:t>
            </a:r>
          </a:p>
          <a:p>
            <a:pPr marL="565970" lvl="1" indent="-282985" algn="l">
              <a:lnSpc>
                <a:spcPts val="3670"/>
              </a:lnSpc>
              <a:buAutoNum type="arabicPeriod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Total Orders</a:t>
            </a:r>
          </a:p>
          <a:p>
            <a:pPr marL="565970" lvl="1" indent="-282985" algn="l">
              <a:lnSpc>
                <a:spcPts val="3670"/>
              </a:lnSpc>
              <a:buAutoNum type="arabicPeriod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Total Revenue</a:t>
            </a:r>
          </a:p>
          <a:p>
            <a:pPr marL="565970" lvl="1" indent="-282985" algn="l">
              <a:lnSpc>
                <a:spcPts val="3670"/>
              </a:lnSpc>
              <a:buAutoNum type="arabicPeriod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Average Order value</a:t>
            </a:r>
          </a:p>
          <a:p>
            <a:pPr marL="565970" lvl="1" indent="-282985" algn="l">
              <a:lnSpc>
                <a:spcPts val="3670"/>
              </a:lnSpc>
              <a:spcBef>
                <a:spcPct val="0"/>
              </a:spcBef>
              <a:buAutoNum type="arabicPeriod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Total Quantity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03273"/>
            <a:ext cx="8839378" cy="6402418"/>
            <a:chOff x="0" y="0"/>
            <a:chExt cx="11785838" cy="853655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300"/>
              <a:ext cx="11785838" cy="2618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Gender - Based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3286" y="3166407"/>
              <a:ext cx="9289355" cy="1806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Shopping distribution by gender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Products sold to gender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Revenue generated by gender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184344"/>
              <a:ext cx="9289355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48622" y="5349471"/>
            <a:ext cx="8839378" cy="6402418"/>
            <a:chOff x="0" y="0"/>
            <a:chExt cx="11785838" cy="8536557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300"/>
              <a:ext cx="11785838" cy="2618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Age Group</a:t>
              </a:r>
            </a:p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Analysis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3286" y="3166407"/>
              <a:ext cx="9289355" cy="1806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Shopping distribution by age group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Products sold to age group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Revenue generated by age group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184344"/>
              <a:ext cx="9289355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6111157"/>
            <a:ext cx="8839378" cy="5497543"/>
            <a:chOff x="0" y="0"/>
            <a:chExt cx="11785838" cy="733005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300"/>
              <a:ext cx="11785838" cy="1411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Category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3286" y="1959907"/>
              <a:ext cx="9289355" cy="1806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Distribution of purchase categories relative to gender and age group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Revenue generated by product category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977844"/>
              <a:ext cx="9289355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7328" y="439602"/>
            <a:ext cx="10011629" cy="7764493"/>
            <a:chOff x="0" y="0"/>
            <a:chExt cx="13348838" cy="10352657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300"/>
              <a:ext cx="13348838" cy="2618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Payment method </a:t>
              </a:r>
            </a:p>
            <a:p>
              <a:pPr algn="l">
                <a:lnSpc>
                  <a:spcPts val="7172"/>
                </a:lnSpc>
              </a:pPr>
              <a:r>
                <a:rPr lang="en-US" sz="7550" b="1" spc="-317">
                  <a:solidFill>
                    <a:srgbClr val="EAF7E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&amp; Time Trend Analysis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969397"/>
              <a:ext cx="9289355" cy="2416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Distribution of payment method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Impact of payment methods by gender and category</a:t>
              </a:r>
            </a:p>
            <a:p>
              <a:pPr marL="565970" lvl="1" indent="-282985" algn="l">
                <a:lnSpc>
                  <a:spcPts val="3670"/>
                </a:lnSpc>
                <a:buFont typeface="Arial"/>
                <a:buChar char="•"/>
              </a:pPr>
              <a:r>
                <a:rPr lang="en-US" sz="2621" spc="-110">
                  <a:solidFill>
                    <a:srgbClr val="EAF7E3"/>
                  </a:solidFill>
                  <a:latin typeface="Poppins"/>
                  <a:ea typeface="Poppins"/>
                  <a:cs typeface="Poppins"/>
                  <a:sym typeface="Poppins"/>
                </a:rPr>
                <a:t>Monthly Reveue Trends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000444"/>
              <a:ext cx="9289355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00222"/>
            <a:ext cx="7725244" cy="4287510"/>
          </a:xfrm>
          <a:custGeom>
            <a:avLst/>
            <a:gdLst/>
            <a:ahLst/>
            <a:cxnLst/>
            <a:rect l="l" t="t" r="r" b="b"/>
            <a:pathLst>
              <a:path w="7725244" h="4287510">
                <a:moveTo>
                  <a:pt x="0" y="0"/>
                </a:moveTo>
                <a:lnTo>
                  <a:pt x="7725244" y="0"/>
                </a:lnTo>
                <a:lnTo>
                  <a:pt x="7725244" y="4287510"/>
                </a:lnTo>
                <a:lnTo>
                  <a:pt x="0" y="4287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449173"/>
            <a:ext cx="7795340" cy="4389609"/>
          </a:xfrm>
          <a:custGeom>
            <a:avLst/>
            <a:gdLst/>
            <a:ahLst/>
            <a:cxnLst/>
            <a:rect l="l" t="t" r="r" b="b"/>
            <a:pathLst>
              <a:path w="7795340" h="4389609">
                <a:moveTo>
                  <a:pt x="0" y="0"/>
                </a:moveTo>
                <a:lnTo>
                  <a:pt x="7795340" y="0"/>
                </a:lnTo>
                <a:lnTo>
                  <a:pt x="7795340" y="4389608"/>
                </a:lnTo>
                <a:lnTo>
                  <a:pt x="0" y="438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5542" y="6285757"/>
            <a:ext cx="11632093" cy="274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endParaRPr/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Female customers contribute high revenue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Age group 36-45 is the most valuable customer segment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Clothing and Shoes drive maximum sales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Cash is the most preferred payment method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Monthly revenue trends highlight January as the peak sales period.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01623"/>
            <a:ext cx="8115300" cy="95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4"/>
              </a:lnSpc>
            </a:pPr>
            <a:r>
              <a:rPr lang="en-US" sz="6846" b="1" spc="-287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7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154" y="1114425"/>
            <a:ext cx="13067459" cy="95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4"/>
              </a:lnSpc>
            </a:pPr>
            <a:r>
              <a:rPr lang="en-US" sz="6846" b="1" spc="-287">
                <a:solidFill>
                  <a:srgbClr val="EAF7E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Business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4154" y="2304516"/>
            <a:ext cx="12732573" cy="411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Target Female customers using discounts and promotions.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Age group 36-45 should be given priority in order to increase sales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Introduce bundled offers in Clothing category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Encourage loyal customers by giving offers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Introduce marketing strategies in the end of the year</a:t>
            </a:r>
          </a:p>
          <a:p>
            <a:pPr marL="565970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Improve cash billing speed for smooth checkouts.</a:t>
            </a:r>
          </a:p>
          <a:p>
            <a:pPr algn="l">
              <a:lnSpc>
                <a:spcPts val="3670"/>
              </a:lnSpc>
            </a:pPr>
            <a:endParaRPr lang="en-US" sz="2621" spc="-110">
              <a:solidFill>
                <a:srgbClr val="EAF7E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70"/>
              </a:lnSpc>
            </a:pPr>
            <a:r>
              <a:rPr lang="en-US" sz="2621" spc="-110">
                <a:solidFill>
                  <a:srgbClr val="EAF7E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670"/>
              </a:lnSpc>
            </a:pPr>
            <a:endParaRPr lang="en-US" sz="2621" spc="-110">
              <a:solidFill>
                <a:srgbClr val="EAF7E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D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6569683"/>
            <a:ext cx="18288000" cy="0"/>
          </a:xfrm>
          <a:prstGeom prst="line">
            <a:avLst/>
          </a:prstGeom>
          <a:ln w="9525" cap="rnd">
            <a:solidFill>
              <a:srgbClr val="C5DBB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252477" y="3852144"/>
            <a:ext cx="11783046" cy="179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5"/>
              </a:lnSpc>
            </a:pPr>
            <a:r>
              <a:rPr lang="en-US" sz="13016" b="1" spc="-546">
                <a:solidFill>
                  <a:srgbClr val="EBF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441</Words>
  <Application>Microsoft Office PowerPoint</Application>
  <PresentationFormat>Custom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Poppins Medium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</dc:title>
  <dc:creator>Sai Lavanya Bollam</dc:creator>
  <cp:lastModifiedBy>Sai Lavanya Bollam</cp:lastModifiedBy>
  <cp:revision>2</cp:revision>
  <dcterms:created xsi:type="dcterms:W3CDTF">2006-08-16T00:00:00Z</dcterms:created>
  <dcterms:modified xsi:type="dcterms:W3CDTF">2026-02-28T12:10:28Z</dcterms:modified>
  <dc:identifier>DAHCmVaAtzQ</dc:identifier>
</cp:coreProperties>
</file>